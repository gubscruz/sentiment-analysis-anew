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1371600" cy="64008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4000">
                <a:solidFill>
                  <a:srgbClr val="0B0B0B"/>
                </a:solidFill>
                <a:latin typeface="Arial"/>
              </a:rPr>
              <a:t>Do que as pessoas falam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b="1" sz="4000">
                <a:solidFill>
                  <a:srgbClr val="0B0B0B"/>
                </a:solidFill>
                <a:latin typeface="Arial"/>
              </a:rPr>
              <a:t>quando falam da Argentina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77639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b="0" sz="1500">
                <a:solidFill>
                  <a:srgbClr val="898781"/>
                </a:solidFill>
                <a:latin typeface="Arial"/>
              </a:rPr>
              <a:t>Análise de sentimento de posts de rede social com o dicionário ANEW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b="0" sz="1500">
                <a:solidFill>
                  <a:srgbClr val="898781"/>
                </a:solidFill>
                <a:latin typeface="Arial"/>
              </a:rPr>
              <a:t>de normas afetivas (Bradley &amp; Lang, 1999)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5120640"/>
            <a:ext cx="475488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534924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b="0" sz="1250">
                <a:solidFill>
                  <a:srgbClr val="52514E"/>
                </a:solidFill>
                <a:latin typeface="Arial"/>
              </a:rPr>
              <a:t>Pedro Fardin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b="0" sz="1250">
                <a:solidFill>
                  <a:srgbClr val="52514E"/>
                </a:solidFill>
                <a:latin typeface="Arial"/>
              </a:rPr>
              <a:t>(preencher o nome do colega)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534924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b="0" sz="1250">
                <a:solidFill>
                  <a:srgbClr val="898781"/>
                </a:solidFill>
                <a:latin typeface="Arial"/>
              </a:rPr>
              <a:t>Processamento de Linguagem Natural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b="0" sz="1250">
                <a:solidFill>
                  <a:srgbClr val="898781"/>
                </a:solidFill>
                <a:latin typeface="Arial"/>
              </a:rPr>
              <a:t>2.400 posts do Mastodon ·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700" b="1">
                <a:solidFill>
                  <a:srgbClr val="0B0B0B"/>
                </a:solidFill>
                <a:latin typeface="Arial"/>
              </a:rPr>
              <a:t>Como decidimos se um post fala bem ou mal da 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250">
                <a:solidFill>
                  <a:srgbClr val="898781"/>
                </a:solidFill>
                <a:latin typeface="Arial"/>
              </a:rPr>
              <a:t>Cada palavra do dicionário ANEW já vem com uma nota de agrado, dada por voluntários. A nota de um post é a média das notas das suas palavras.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65960"/>
            <a:ext cx="310896" cy="310896"/>
          </a:xfrm>
          <a:prstGeom prst="ellipse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CFCFB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476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50">
                <a:solidFill>
                  <a:srgbClr val="0B0B0B"/>
                </a:solidFill>
                <a:latin typeface="Arial"/>
              </a:rPr>
              <a:t>Buscamos os posts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21992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150">
                <a:solidFill>
                  <a:srgbClr val="52514E"/>
                </a:solidFill>
                <a:latin typeface="Arial"/>
              </a:rPr>
              <a:t>Um programa nosso baixa da API do Mastodon os posts que citam </a:t>
            </a:r>
            <a:r>
              <a:rPr b="1" sz="1150">
                <a:solidFill>
                  <a:srgbClr val="0B0B0B"/>
                </a:solidFill>
                <a:latin typeface="Arial"/>
              </a:rPr>
              <a:t>Argentina</a:t>
            </a:r>
            <a:r>
              <a:rPr b="0" sz="1150">
                <a:solidFill>
                  <a:srgbClr val="52514E"/>
                </a:solidFill>
                <a:latin typeface="Arial"/>
              </a:rPr>
              <a:t>, e confere o idioma de cada um.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10896" cy="310896"/>
          </a:xfrm>
          <a:prstGeom prst="ellipse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CFCFB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50">
                <a:solidFill>
                  <a:srgbClr val="0B0B0B"/>
                </a:solidFill>
                <a:latin typeface="Arial"/>
              </a:rPr>
              <a:t>Casamos as palavras com o dicionário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73552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150">
                <a:solidFill>
                  <a:srgbClr val="52514E"/>
                </a:solidFill>
                <a:latin typeface="Arial"/>
              </a:rPr>
              <a:t>As 1.034 palavras do ANEW têm nota de 0 a 100. </a:t>
            </a:r>
            <a:r>
              <a:rPr b="1" sz="1150">
                <a:solidFill>
                  <a:srgbClr val="0B0B0B"/>
                </a:solidFill>
                <a:latin typeface="Arial"/>
              </a:rPr>
              <a:t>love</a:t>
            </a:r>
            <a:r>
              <a:rPr b="0" sz="1150">
                <a:solidFill>
                  <a:srgbClr val="52514E"/>
                </a:solidFill>
                <a:latin typeface="Arial"/>
              </a:rPr>
              <a:t> = 99 · </a:t>
            </a:r>
            <a:r>
              <a:rPr b="1" sz="1150">
                <a:solidFill>
                  <a:srgbClr val="0B0B0B"/>
                </a:solidFill>
                <a:latin typeface="Arial"/>
              </a:rPr>
              <a:t>news</a:t>
            </a:r>
            <a:r>
              <a:rPr b="0" sz="1150">
                <a:solidFill>
                  <a:srgbClr val="52514E"/>
                </a:solidFill>
                <a:latin typeface="Arial"/>
              </a:rPr>
              <a:t> = 60 · </a:t>
            </a:r>
            <a:r>
              <a:rPr b="1" sz="1150">
                <a:solidFill>
                  <a:srgbClr val="0B0B0B"/>
                </a:solidFill>
                <a:latin typeface="Arial"/>
              </a:rPr>
              <a:t>terrible</a:t>
            </a:r>
            <a:r>
              <a:rPr b="0" sz="1150">
                <a:solidFill>
                  <a:srgbClr val="52514E"/>
                </a:solidFill>
                <a:latin typeface="Arial"/>
              </a:rPr>
              <a:t> = 22. Reduzimos cada palavra do post à forma do dicionário, para que </a:t>
            </a:r>
            <a:r>
              <a:rPr i="1" sz="1150">
                <a:solidFill>
                  <a:srgbClr val="52514E"/>
                </a:solidFill>
                <a:latin typeface="Arial"/>
              </a:rPr>
              <a:t>loved</a:t>
            </a:r>
            <a:r>
              <a:rPr b="0" sz="1150">
                <a:solidFill>
                  <a:srgbClr val="52514E"/>
                </a:solidFill>
                <a:latin typeface="Arial"/>
              </a:rPr>
              <a:t> encontre </a:t>
            </a:r>
            <a:r>
              <a:rPr i="1" sz="1150">
                <a:solidFill>
                  <a:srgbClr val="52514E"/>
                </a:solidFill>
                <a:latin typeface="Arial"/>
              </a:rPr>
              <a:t>love</a:t>
            </a:r>
            <a:r>
              <a:rPr b="0" sz="1150">
                <a:solidFill>
                  <a:srgbClr val="52514E"/>
                </a:solidFill>
                <a:latin typeface="Arial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97680"/>
            <a:ext cx="310896" cy="310896"/>
          </a:xfrm>
          <a:prstGeom prst="ellipse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CFCFB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7939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50">
                <a:solidFill>
                  <a:srgbClr val="0B0B0B"/>
                </a:solidFill>
                <a:latin typeface="Arial"/>
              </a:rPr>
              <a:t>Tiramos a média e comparamos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53712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150">
                <a:solidFill>
                  <a:srgbClr val="52514E"/>
                </a:solidFill>
                <a:latin typeface="Arial"/>
              </a:rPr>
              <a:t>Acima da média do dicionário é positivo, abaixo é negativo, perto dela é neutro.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965960"/>
            <a:ext cx="49834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0" y="224028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b="0" sz="1500">
                <a:solidFill>
                  <a:srgbClr val="0B0B0B"/>
                </a:solidFill>
                <a:latin typeface="Arial"/>
              </a:rPr>
              <a:t>nota do post = média das notas das suas palavras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715768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b="0" sz="1100">
                <a:solidFill>
                  <a:srgbClr val="898781"/>
                </a:solidFill>
                <a:latin typeface="Arial"/>
              </a:rPr>
              <a:t>“Argentina is </a:t>
            </a:r>
            <a:r>
              <a:rPr b="1" sz="1100">
                <a:solidFill>
                  <a:srgbClr val="898781"/>
                </a:solidFill>
                <a:latin typeface="Arial"/>
              </a:rPr>
              <a:t>beautiful</a:t>
            </a:r>
            <a:r>
              <a:rPr b="0" sz="1100">
                <a:solidFill>
                  <a:srgbClr val="898781"/>
                </a:solidFill>
                <a:latin typeface="Arial"/>
              </a:rPr>
              <a:t>, I </a:t>
            </a:r>
            <a:r>
              <a:rPr b="1" sz="1100">
                <a:solidFill>
                  <a:srgbClr val="898781"/>
                </a:solidFill>
                <a:latin typeface="Arial"/>
              </a:rPr>
              <a:t>love</a:t>
            </a:r>
            <a:r>
              <a:rPr b="0" sz="1100">
                <a:solidFill>
                  <a:srgbClr val="898781"/>
                </a:solidFill>
                <a:latin typeface="Arial"/>
              </a:rPr>
              <a:t> the </a:t>
            </a:r>
            <a:r>
              <a:rPr b="1" sz="1100">
                <a:solidFill>
                  <a:srgbClr val="898781"/>
                </a:solidFill>
                <a:latin typeface="Arial"/>
              </a:rPr>
              <a:t>people</a:t>
            </a:r>
            <a:r>
              <a:rPr b="0" sz="1100">
                <a:solidFill>
                  <a:srgbClr val="898781"/>
                </a:solidFill>
                <a:latin typeface="Arial"/>
              </a:rPr>
              <a:t> and the </a:t>
            </a:r>
            <a:r>
              <a:rPr b="1" sz="1100">
                <a:solidFill>
                  <a:srgbClr val="898781"/>
                </a:solidFill>
                <a:latin typeface="Arial"/>
              </a:rPr>
              <a:t>food</a:t>
            </a:r>
            <a:r>
              <a:rPr b="0" sz="1100">
                <a:solidFill>
                  <a:srgbClr val="898781"/>
                </a:solidFill>
                <a:latin typeface="Arial"/>
              </a:rPr>
              <a:t>”</a:t>
            </a:r>
          </a:p>
          <a:p>
            <a:pPr algn="ctr">
              <a:lnSpc>
                <a:spcPct val="135000"/>
              </a:lnSpc>
              <a:spcBef>
                <a:spcPts val="600"/>
              </a:spcBef>
            </a:pPr>
            <a:r>
              <a:rPr b="0" sz="1100">
                <a:solidFill>
                  <a:srgbClr val="898781"/>
                </a:solidFill>
                <a:latin typeface="Arial"/>
              </a:rPr>
              <a:t>(86 + 99 + 83 + 87) ÷ 4 = </a:t>
            </a:r>
            <a:r>
              <a:rPr b="1" sz="1100">
                <a:solidFill>
                  <a:srgbClr val="898781"/>
                </a:solidFill>
                <a:latin typeface="Arial"/>
              </a:rPr>
              <a:t>89</a:t>
            </a:r>
            <a:r>
              <a:rPr b="0" sz="1100">
                <a:solidFill>
                  <a:srgbClr val="898781"/>
                </a:solidFill>
                <a:latin typeface="Arial"/>
              </a:rPr>
              <a:t> → positivo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657600"/>
            <a:ext cx="49834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583680" y="3657600"/>
            <a:ext cx="45720" cy="214884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6288" y="3886200"/>
            <a:ext cx="4434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900">
                <a:solidFill>
                  <a:srgbClr val="898781"/>
                </a:solidFill>
                <a:latin typeface="Arial"/>
              </a:rPr>
              <a:t>AS TRÊS DIMENSÕES DO ANEW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4206240"/>
            <a:ext cx="441655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150">
                <a:solidFill>
                  <a:srgbClr val="52514E"/>
                </a:solidFill>
                <a:latin typeface="Arial"/>
              </a:rPr>
              <a:t>O dicionário mede </a:t>
            </a:r>
            <a:r>
              <a:rPr b="1" sz="1150">
                <a:solidFill>
                  <a:srgbClr val="0B0B0B"/>
                </a:solidFill>
                <a:latin typeface="Arial"/>
              </a:rPr>
              <a:t>Pleasure</a:t>
            </a:r>
            <a:r>
              <a:rPr b="0" sz="1150">
                <a:solidFill>
                  <a:srgbClr val="52514E"/>
                </a:solidFill>
                <a:latin typeface="Arial"/>
              </a:rPr>
              <a:t> (agradável ou desagradável), </a:t>
            </a:r>
            <a:r>
              <a:rPr b="1" sz="1150">
                <a:solidFill>
                  <a:srgbClr val="0B0B0B"/>
                </a:solidFill>
                <a:latin typeface="Arial"/>
              </a:rPr>
              <a:t>Arousal</a:t>
            </a:r>
            <a:r>
              <a:rPr b="0" sz="1150">
                <a:solidFill>
                  <a:srgbClr val="52514E"/>
                </a:solidFill>
                <a:latin typeface="Arial"/>
              </a:rPr>
              <a:t> (calmo ou agitado) e </a:t>
            </a:r>
            <a:r>
              <a:rPr b="1" sz="1150">
                <a:solidFill>
                  <a:srgbClr val="0B0B0B"/>
                </a:solidFill>
                <a:latin typeface="Arial"/>
              </a:rPr>
              <a:t>Dominance</a:t>
            </a:r>
            <a:r>
              <a:rPr b="0" sz="1150">
                <a:solidFill>
                  <a:srgbClr val="52514E"/>
                </a:solidFill>
                <a:latin typeface="Arial"/>
              </a:rPr>
              <a:t> (quanto controle a palavra transmite).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b="0" sz="1150">
                <a:solidFill>
                  <a:srgbClr val="52514E"/>
                </a:solidFill>
                <a:latin typeface="Arial"/>
              </a:rPr>
              <a:t>Usamos só </a:t>
            </a:r>
            <a:r>
              <a:rPr b="1" sz="1150">
                <a:solidFill>
                  <a:srgbClr val="0B0B0B"/>
                </a:solidFill>
                <a:latin typeface="Arial"/>
              </a:rPr>
              <a:t>Pleasure</a:t>
            </a:r>
            <a:r>
              <a:rPr b="0" sz="1150">
                <a:solidFill>
                  <a:srgbClr val="52514E"/>
                </a:solidFill>
                <a:latin typeface="Arial"/>
              </a:rPr>
              <a:t>, porque é a dimensão que responde “falaram bem ou mal?”. As outras duas medem intensidade e poder, não aprovação.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6437376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850">
                <a:solidFill>
                  <a:srgbClr val="898781"/>
                </a:solidFill>
                <a:latin typeface="Arial"/>
              </a:rPr>
              <a:t>Dicionário ANEW (Bradley &amp; Lang, 1999) · entidade: Argentina · fonte: Mastodon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b="0" sz="850">
                <a:solidFill>
                  <a:srgbClr val="898781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700" b="1">
                <a:solidFill>
                  <a:srgbClr val="0B0B0B"/>
                </a:solidFill>
                <a:latin typeface="Arial"/>
              </a:rPr>
              <a:t>Por que escolhemos assim</a:t>
            </a:r>
            <a:r>
              <a:rPr sz="2700">
                <a:solidFill>
                  <a:srgbClr val="898781"/>
                </a:solidFill>
                <a:latin typeface="Arial"/>
              </a:rPr>
              <a:t>  — três decisões que mudam o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250">
                <a:solidFill>
                  <a:srgbClr val="898781"/>
                </a:solidFill>
                <a:latin typeface="Arial"/>
              </a:rPr>
              <a:t>O enunciado deixa em aberto como transformar notas de palavras numa decisão sobre o post. Estas foram as nossas escolhas, e o motivo de cada uma.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3492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45720" cy="146304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057399"/>
            <a:ext cx="4846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900">
                <a:solidFill>
                  <a:srgbClr val="898781"/>
                </a:solidFill>
                <a:latin typeface="Arial"/>
              </a:rPr>
              <a:t>ESCOLHA 1 · UMA ENTIDADE SÓ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5999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0B0B0B"/>
                </a:solidFill>
                <a:latin typeface="Arial"/>
              </a:rPr>
              <a:t>Buscamos apenas “Argentina”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19"/>
            <a:ext cx="4818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b="0" sz="1100">
                <a:solidFill>
                  <a:srgbClr val="52514E"/>
                </a:solidFill>
                <a:latin typeface="Arial"/>
              </a:rPr>
              <a:t>Testamos buscar também Buenos Aires e Patagônia, para ter mais posts. Mas isso trazia turismo e natureza — </a:t>
            </a:r>
            <a:r>
              <a:rPr b="1" sz="1100">
                <a:solidFill>
                  <a:srgbClr val="0B0B0B"/>
                </a:solidFill>
                <a:latin typeface="Arial"/>
              </a:rPr>
              <a:t>outras entidades</a:t>
            </a:r>
            <a:r>
              <a:rPr b="0" sz="1100">
                <a:solidFill>
                  <a:srgbClr val="52514E"/>
                </a:solidFill>
                <a:latin typeface="Arial"/>
              </a:rPr>
              <a:t> — e empurrava o resultado para o positivo.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02151"/>
            <a:ext cx="534924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3502151"/>
            <a:ext cx="45720" cy="237744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3685031"/>
            <a:ext cx="4846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900">
                <a:solidFill>
                  <a:srgbClr val="898781"/>
                </a:solidFill>
                <a:latin typeface="Arial"/>
              </a:rPr>
              <a:t>ESCOLHA 2 · O PONTO DE CORTE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13631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0B0B0B"/>
                </a:solidFill>
                <a:latin typeface="Arial"/>
              </a:rPr>
              <a:t>Comparamos com 58, não com 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87951"/>
            <a:ext cx="4818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b="0" sz="1100">
                <a:solidFill>
                  <a:srgbClr val="52514E"/>
                </a:solidFill>
                <a:latin typeface="Arial"/>
              </a:rPr>
              <a:t>A escala vai de 0 a 100, então o meio </a:t>
            </a:r>
            <a:r>
              <a:rPr i="1" sz="1100">
                <a:solidFill>
                  <a:srgbClr val="52514E"/>
                </a:solidFill>
                <a:latin typeface="Arial"/>
              </a:rPr>
              <a:t>parece</a:t>
            </a:r>
            <a:r>
              <a:rPr b="0" sz="1100">
                <a:solidFill>
                  <a:srgbClr val="52514E"/>
                </a:solidFill>
                <a:latin typeface="Arial"/>
              </a:rPr>
              <a:t> ser 50. Mas o ANEW não é equilibrado: </a:t>
            </a:r>
            <a:r>
              <a:rPr b="1" sz="1100">
                <a:solidFill>
                  <a:srgbClr val="0B0B0B"/>
                </a:solidFill>
                <a:latin typeface="Arial"/>
              </a:rPr>
              <a:t>62% das suas palavras estão acima de 50</a:t>
            </a:r>
            <a:r>
              <a:rPr b="0" sz="1100">
                <a:solidFill>
                  <a:srgbClr val="52514E"/>
                </a:solidFill>
                <a:latin typeface="Arial"/>
              </a:rPr>
              <a:t>, e a média delas é 58.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599"/>
            <a:ext cx="4800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900">
                <a:solidFill>
                  <a:srgbClr val="898781"/>
                </a:solidFill>
                <a:latin typeface="Arial"/>
              </a:rPr>
              <a:t>os mesmos posts, cortando em 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983479"/>
            <a:ext cx="192024" cy="237744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06424" y="4983479"/>
            <a:ext cx="4608576" cy="237744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96% positivo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30951"/>
            <a:ext cx="4800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900">
                <a:solidFill>
                  <a:srgbClr val="898781"/>
                </a:solidFill>
                <a:latin typeface="Arial"/>
              </a:rPr>
              <a:t>cortando em 58, a média real do dicionário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513831"/>
            <a:ext cx="144018" cy="237744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058418" y="5513831"/>
            <a:ext cx="1968246" cy="23774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41% neutro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26664" y="5513831"/>
            <a:ext cx="2688336" cy="237744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56% positivo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874519"/>
            <a:ext cx="49834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583680" y="1874519"/>
            <a:ext cx="45720" cy="96012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58000" y="2039111"/>
            <a:ext cx="4480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900">
                <a:solidFill>
                  <a:srgbClr val="898781"/>
                </a:solidFill>
                <a:latin typeface="Arial"/>
              </a:rPr>
              <a:t>ESCOLHA 3 · QUANDO NÃO OPINAR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258567"/>
            <a:ext cx="44531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b="1" sz="1400">
                <a:solidFill>
                  <a:srgbClr val="0B0B0B"/>
                </a:solidFill>
                <a:latin typeface="Arial"/>
              </a:rPr>
              <a:t>Post com menos de 3 palavras conhecidas é descartado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3017519"/>
            <a:ext cx="498348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39712" y="3200399"/>
            <a:ext cx="4480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900">
                <a:solidFill>
                  <a:srgbClr val="898781"/>
                </a:solidFill>
                <a:latin typeface="Arial"/>
              </a:rPr>
              <a:t>POST REAL · O ANEW SÓ RECONHECEU UMA PALAVRA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3456431"/>
            <a:ext cx="447141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i="1" sz="1100">
                <a:solidFill>
                  <a:srgbClr val="0B0B0B"/>
                </a:solidFill>
                <a:latin typeface="Arial"/>
              </a:rPr>
              <a:t>“An elderly lady of the indigenous Humahuaca community in Jujuy cries as the puppet regime in Argentina evicts her from her </a:t>
            </a:r>
            <a:r>
              <a:rPr b="1" sz="1100">
                <a:solidFill>
                  <a:srgbClr val="0B0B0B"/>
                </a:solidFill>
                <a:latin typeface="Arial"/>
              </a:rPr>
              <a:t>home · 90</a:t>
            </a:r>
            <a:r>
              <a:rPr i="1" sz="1100">
                <a:solidFill>
                  <a:srgbClr val="0B0B0B"/>
                </a:solidFill>
                <a:latin typeface="Arial"/>
              </a:rPr>
              <a:t> and land. Large-scale protests against the law continue.”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39712" y="4498847"/>
            <a:ext cx="2199132" cy="658368"/>
          </a:xfrm>
          <a:prstGeom prst="roundRect">
            <a:avLst/>
          </a:prstGeom>
          <a:solidFill>
            <a:srgbClr val="FDEEEE"/>
          </a:solidFill>
          <a:ln w="9525">
            <a:solidFill>
              <a:srgbClr val="E34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967728" y="4590287"/>
            <a:ext cx="19431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950">
                <a:solidFill>
                  <a:srgbClr val="52514E"/>
                </a:solidFill>
                <a:latin typeface="Arial"/>
              </a:rPr>
              <a:t>sem regra nenhuma: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4800599"/>
            <a:ext cx="19431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E34948"/>
                </a:solidFill>
                <a:latin typeface="Arial"/>
              </a:rPr>
              <a:t>POSITIVO · 90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03436" y="4498847"/>
            <a:ext cx="2199132" cy="658368"/>
          </a:xfrm>
          <a:prstGeom prst="roundRect">
            <a:avLst/>
          </a:prstGeom>
          <a:solidFill>
            <a:srgbClr val="EEF4FD"/>
          </a:solidFill>
          <a:ln w="9525">
            <a:solidFill>
              <a:srgbClr val="398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31452" y="4590287"/>
            <a:ext cx="19431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950">
                <a:solidFill>
                  <a:srgbClr val="52514E"/>
                </a:solidFill>
                <a:latin typeface="Arial"/>
              </a:rPr>
              <a:t>com a nossa regra: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1452" y="4800599"/>
            <a:ext cx="19431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3987E5"/>
                </a:solidFill>
                <a:latin typeface="Arial"/>
              </a:rPr>
              <a:t>SEM SINAL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5321807"/>
            <a:ext cx="4471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b="0" sz="1050">
                <a:solidFill>
                  <a:srgbClr val="52514E"/>
                </a:solidFill>
                <a:latin typeface="Arial"/>
              </a:rPr>
              <a:t>De 63 palavras, o dicionário só reconheceu </a:t>
            </a:r>
            <a:r>
              <a:rPr b="1" sz="1050">
                <a:solidFill>
                  <a:srgbClr val="0B0B0B"/>
                </a:solidFill>
                <a:latin typeface="Arial"/>
              </a:rPr>
              <a:t>home</a:t>
            </a:r>
            <a:r>
              <a:rPr b="0" sz="1050">
                <a:solidFill>
                  <a:srgbClr val="52514E"/>
                </a:solidFill>
                <a:latin typeface="Arial"/>
              </a:rPr>
              <a:t>. Os termos que dariam o tom — </a:t>
            </a:r>
            <a:r>
              <a:rPr i="1" sz="1050">
                <a:solidFill>
                  <a:srgbClr val="52514E"/>
                </a:solidFill>
                <a:latin typeface="Arial"/>
              </a:rPr>
              <a:t>cries</a:t>
            </a:r>
            <a:r>
              <a:rPr b="0" sz="1050">
                <a:solidFill>
                  <a:srgbClr val="52514E"/>
                </a:solidFill>
                <a:latin typeface="Arial"/>
              </a:rPr>
              <a:t>, </a:t>
            </a:r>
            <a:r>
              <a:rPr i="1" sz="1050">
                <a:solidFill>
                  <a:srgbClr val="52514E"/>
                </a:solidFill>
                <a:latin typeface="Arial"/>
              </a:rPr>
              <a:t>evicts</a:t>
            </a:r>
            <a:r>
              <a:rPr b="0" sz="1050">
                <a:solidFill>
                  <a:srgbClr val="52514E"/>
                </a:solidFill>
                <a:latin typeface="Arial"/>
              </a:rPr>
              <a:t>, </a:t>
            </a:r>
            <a:r>
              <a:rPr i="1" sz="1050">
                <a:solidFill>
                  <a:srgbClr val="52514E"/>
                </a:solidFill>
                <a:latin typeface="Arial"/>
              </a:rPr>
              <a:t>protests</a:t>
            </a:r>
            <a:r>
              <a:rPr b="0" sz="1050">
                <a:solidFill>
                  <a:srgbClr val="52514E"/>
                </a:solidFill>
                <a:latin typeface="Arial"/>
              </a:rPr>
              <a:t> — não estão no ANEW.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6437376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850">
                <a:solidFill>
                  <a:srgbClr val="898781"/>
                </a:solidFill>
                <a:latin typeface="Arial"/>
              </a:rPr>
              <a:t>Cada escolha foi testada contra os posts reais antes de ser adotada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b="0" sz="850">
                <a:solidFill>
                  <a:srgbClr val="898781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700" b="1">
                <a:solidFill>
                  <a:srgbClr val="0B0B0B"/>
                </a:solidFill>
                <a:latin typeface="Arial"/>
              </a:rPr>
              <a:t>Fala-se mais bem que mal da 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250">
                <a:solidFill>
                  <a:srgbClr val="898781"/>
                </a:solidFill>
                <a:latin typeface="Arial"/>
              </a:rPr>
              <a:t>308 posts classificados, de 632 em inglês. Mais da metade é positiva e quatro em cada dez ficam no meio da escala. Crítica forte é rara: 3%.</a:t>
            </a:r>
          </a:p>
        </p:txBody>
      </p:sp>
      <p:pic>
        <p:nvPicPr>
          <p:cNvPr id="5" name="Picture 4" descr="senti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737360"/>
            <a:ext cx="9326880" cy="443779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37376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850">
                <a:solidFill>
                  <a:srgbClr val="898781"/>
                </a:solidFill>
                <a:latin typeface="Arial"/>
              </a:rPr>
              <a:t>2.400 posts baixados · 632 confirmados em inglês · 308 com palavras suficientes para pontuar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373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b="0" sz="850">
                <a:solidFill>
                  <a:srgbClr val="898781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